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4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 smtClean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D.R H N National</a:t>
            </a:r>
            <a:r>
              <a:rPr lang="en-US" sz="1100" dirty="0" smtClean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College of 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Java Project  |  ISE Department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38404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3154680"/>
            <a:ext cx="5029200" cy="169164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58444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Haadi Mohammed Owais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5844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1HC24IS010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Aashir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9319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1HC24IS023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2793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Kedarling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42793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1HC24IS017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155448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73152" cy="1554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desktop application for managing billing and invoicing in shops and businesses.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4114800" cy="1554480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743200"/>
            <a:ext cx="73152" cy="1554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billing is slow and error-prone. Our system automates it, saving time and reducing mistakes.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14800" cy="1554480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91440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4173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owners, supermarkets, medical stores, and any retail business needing quick invoicing.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114800" cy="155448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74320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Benefit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246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bill generation, real-time inventory tracking, and printed receipts — all in one place.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868680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941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Billing is Slow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0759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bills by hand takes time and creates long queues, especially during peak hours.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8595360" cy="868680"/>
          </a:xfrm>
          <a:prstGeom prst="rect">
            <a:avLst/>
          </a:prstGeom>
          <a:solidFill>
            <a:srgbClr val="1E2A3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1168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1947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Errors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31343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mistakes in totaling prices, applying discounts, or calculating taxes cause financial losses.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868680"/>
          </a:xfrm>
          <a:prstGeom prst="rect">
            <a:avLst/>
          </a:prstGeom>
          <a:solidFill>
            <a:srgbClr val="1E2A3A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17520"/>
            <a:ext cx="594360" cy="59436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9535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Inventory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31927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automation, shops cannot track stock in real-time, leading to overselling or stock-outs.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1E2A3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02336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023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9593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Manage Records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32511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records are easy to lose, hard to search, and impossible to analyze for business insights.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DESIGN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5303520" cy="1005840"/>
          </a:xfrm>
          <a:prstGeom prst="rect">
            <a:avLst/>
          </a:prstGeom>
          <a:solidFill>
            <a:srgbClr val="1E2A3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91440" cy="10058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784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/ JavaFX 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303520" cy="1005840"/>
          </a:xfrm>
          <a:prstGeom prst="rect">
            <a:avLst/>
          </a:prstGeom>
          <a:solidFill>
            <a:srgbClr val="1E2A3A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48840"/>
            <a:ext cx="9144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585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6517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Services &amp; Controllers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5303520" cy="1005840"/>
          </a:xfrm>
          <a:prstGeom prst="rect">
            <a:avLst/>
          </a:prstGeom>
          <a:solidFill>
            <a:srgbClr val="1E2A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29000"/>
            <a:ext cx="91440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3872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9319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+ MySQL Database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1874520"/>
            <a:ext cx="914" cy="274320"/>
          </a:xfrm>
          <a:prstGeom prst="line">
            <a:avLst/>
          </a:prstGeom>
          <a:noFill/>
          <a:ln w="25400">
            <a:solidFill>
              <a:srgbClr val="00D4FF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2743200" y="3154680"/>
            <a:ext cx="914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6126480" y="868680"/>
            <a:ext cx="2743200" cy="365760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3716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Authentication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874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Bill Generation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3774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Inventory Mgmt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8803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Customer Records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3832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Reports &amp; Analytics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8862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 &amp; Export PDF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LEVEL DESIGN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2743200" cy="384048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7782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Module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Staff roles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encryption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939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822960"/>
            <a:ext cx="2743200" cy="1828800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2" y="822960"/>
            <a:ext cx="2743200" cy="38404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87782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Module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Add/Edit/Delete items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9272" y="1709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9272" y="20939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support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822960"/>
            <a:ext cx="2743200" cy="1828800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822960"/>
            <a:ext cx="2743200" cy="384048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87782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Module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price calculation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72784" y="17099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GST/Tax inclusion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2784" y="20939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handling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2743200" cy="182880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834640"/>
            <a:ext cx="2743200" cy="384048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88950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Module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721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1056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27832" y="2834640"/>
            <a:ext cx="2743200" cy="1828800"/>
          </a:xfrm>
          <a:prstGeom prst="rect">
            <a:avLst/>
          </a:prstGeom>
          <a:solidFill>
            <a:srgbClr val="1E2A3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27832" y="2834640"/>
            <a:ext cx="2743200" cy="384048"/>
          </a:xfrm>
          <a:prstGeom prst="rect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288950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Module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9272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9272" y="3721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alerts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19272" y="41056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tracking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81344" y="2834640"/>
            <a:ext cx="2743200" cy="1828800"/>
          </a:xfrm>
          <a:prstGeom prst="rect">
            <a:avLst/>
          </a:prstGeom>
          <a:solidFill>
            <a:srgbClr val="1E2A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1344" y="2834640"/>
            <a:ext cx="2743200" cy="384048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288950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Module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72784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Daily/Monthly sales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72784" y="3721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PDF/Excel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72784" y="41056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charts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HARDWARE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14800" cy="45720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71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371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 or higher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4114800" cy="45720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874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18745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 (8 GB recommended)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114800" cy="45720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77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377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GB HDD / SSD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4114800" cy="45720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80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8803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1280×720 screen resolution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4114800" cy="45720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383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33832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thermal or inkjet printer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4114800" cy="45720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886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3886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/ Wi-Fi for multi-user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325880"/>
            <a:ext cx="4114800" cy="45720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1371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1371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(JDK 17+)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828800"/>
            <a:ext cx="4114800" cy="45720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1874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18745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/ IntelliJ IDEA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331720"/>
            <a:ext cx="4114800" cy="45720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377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2377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2834640"/>
            <a:ext cx="4114800" cy="45720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2880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Driver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28803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JDBC Connector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337560"/>
            <a:ext cx="4114800" cy="45720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383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33832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/ JavaFX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3840480"/>
            <a:ext cx="4114800" cy="45720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886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3886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or Linux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645920" cy="1005840"/>
          </a:xfrm>
          <a:prstGeom prst="rect">
            <a:avLst/>
          </a:prstGeom>
          <a:solidFill>
            <a:srgbClr val="1E2A3A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24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/ Admin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914400"/>
            <a:ext cx="1828800" cy="1005840"/>
          </a:xfrm>
          <a:prstGeom prst="rect">
            <a:avLst/>
          </a:prstGeom>
          <a:solidFill>
            <a:srgbClr val="1E2A3A"/>
          </a:solidFill>
          <a:ln w="254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417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Forms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828800" cy="1005840"/>
          </a:xfrm>
          <a:prstGeom prst="rect">
            <a:avLst/>
          </a:prstGeom>
          <a:solidFill>
            <a:srgbClr val="1E2A3A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417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914400"/>
            <a:ext cx="2011680" cy="1005840"/>
          </a:xfrm>
          <a:prstGeom prst="rect">
            <a:avLst/>
          </a:prstGeom>
          <a:solidFill>
            <a:srgbClr val="1E2A3A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024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1417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0" y="141732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0" y="141732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41732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192024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365760" y="2286000"/>
            <a:ext cx="2606040" cy="1143000"/>
          </a:xfrm>
          <a:prstGeom prst="rect">
            <a:avLst/>
          </a:prstGeom>
          <a:solidFill>
            <a:srgbClr val="141C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377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7157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0083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192024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2331720" y="2286000"/>
            <a:ext cx="2606040" cy="1143000"/>
          </a:xfrm>
          <a:prstGeom prst="rect">
            <a:avLst/>
          </a:prstGeom>
          <a:solidFill>
            <a:srgbClr val="141C29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2377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Processing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27157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totaling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23160" y="30083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discount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192024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32" name="Shape 30"/>
          <p:cNvSpPr/>
          <p:nvPr/>
        </p:nvSpPr>
        <p:spPr>
          <a:xfrm>
            <a:off x="4297680" y="2286000"/>
            <a:ext cx="2606040" cy="1143000"/>
          </a:xfrm>
          <a:prstGeom prst="rect">
            <a:avLst/>
          </a:prstGeom>
          <a:solidFill>
            <a:srgbClr val="141C2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2377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Connectivity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0" y="27157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0" y="30083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86600" y="192024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37" name="Shape 35"/>
          <p:cNvSpPr/>
          <p:nvPr/>
        </p:nvSpPr>
        <p:spPr>
          <a:xfrm>
            <a:off x="6263640" y="2286000"/>
            <a:ext cx="2606040" cy="1143000"/>
          </a:xfrm>
          <a:prstGeom prst="rect">
            <a:avLst/>
          </a:prstGeom>
          <a:solidFill>
            <a:srgbClr val="141C2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2377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27157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bill tables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300837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inventory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 Pattern — Model (DB) · View (UI) · Controller (Services)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24712"/>
            <a:ext cx="658368" cy="658368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247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(JDK 17+)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280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554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language powering all application logic.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124712"/>
            <a:ext cx="658368" cy="658368"/>
          </a:xfrm>
          <a:prstGeom prst="ellipse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247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23560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12801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Framework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1554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desktop GUI components for forms, buttons, and tables.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240280"/>
            <a:ext cx="416052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496312"/>
            <a:ext cx="658368" cy="658368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496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26517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29260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Database Connectivity API to talk to MySQL.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240280"/>
            <a:ext cx="416052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496312"/>
            <a:ext cx="658368" cy="658368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496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2356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26517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29260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billing, customer, and product data securely.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611880"/>
            <a:ext cx="416052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867912"/>
            <a:ext cx="658368" cy="658368"/>
          </a:xfrm>
          <a:prstGeom prst="ellipse">
            <a:avLst/>
          </a:prstGeom>
          <a:solidFill>
            <a:srgbClr val="EC4899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8679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3703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iText / Apache POI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88720" y="40233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88720" y="4297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printable PDF bills and Excel reports.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611880"/>
            <a:ext cx="4160520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867912"/>
            <a:ext cx="658368" cy="658368"/>
          </a:xfrm>
          <a:prstGeom prst="ellipse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8679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623560" y="3703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/ Hash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623560" y="40233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23560" y="4297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ensures safe user authentication.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606040" cy="1188720"/>
          </a:xfrm>
          <a:prstGeom prst="rect">
            <a:avLst/>
          </a:prstGeom>
          <a:solidFill>
            <a:srgbClr val="1E2A3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Billing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22960"/>
            <a:ext cx="2606040" cy="1188720"/>
          </a:xfrm>
          <a:prstGeom prst="rect">
            <a:avLst/>
          </a:prstGeom>
          <a:solidFill>
            <a:srgbClr val="1E2A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8412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46120" y="15361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Errors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606040" cy="1188720"/>
          </a:xfrm>
          <a:prstGeom prst="rect">
            <a:avLst/>
          </a:prstGeom>
          <a:solidFill>
            <a:srgbClr val="1E2A3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8412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126480" y="15361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8412480" cy="5943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76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Bill Generation Works Correctly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76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generates accurate bills with correct totals, GST, and discounts applied as configured.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solidFill>
            <a:srgbClr val="141C2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862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Inventory Auto-Updates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862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product is billed, the stock count reduces automatically in real-time, preventing overselling.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8412480" cy="5943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Customer Records Maintained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547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 details and their purchase history are stored and easily searchable by name or phone.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141C2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33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PDF Bills Can Be Printed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2336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can be exported as PDFs or printed directly, making the system ready for real business use.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1E2A3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Billing System successfully replaces manual billing with a fast, accurate, and easy-to-use Java application that any shop can use with minimal training.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all project goals — accurate billing, inventory, and reports.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Java skills like JDBC, Swing, OOP, and exception handling are used effectively.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practical and can be deployed in real shops immediately.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 protect business data with role-based access and encryption.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114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valuable business insights through daily and monthly sales reports.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1170432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658368" cy="658368"/>
          </a:xfrm>
          <a:prstGeom prst="ellipse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914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Version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2984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Android/iOS app so billing can be done from a smartphone or tablet.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60520" cy="1170432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51560"/>
            <a:ext cx="658368" cy="658368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23560" y="914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3560" y="12984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data to the cloud so multiple shops can access one central database.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4160520" cy="1170432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423160"/>
            <a:ext cx="658368" cy="658368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423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Demand Forecast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26700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to predict which products sell more and when to reorder.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194560"/>
            <a:ext cx="4160520" cy="117043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423160"/>
            <a:ext cx="658368" cy="658368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423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2356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Integration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23560" y="26700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UPI, Razorpay, or card payment support for cashless billing.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566160"/>
            <a:ext cx="4160520" cy="1170432"/>
          </a:xfrm>
          <a:prstGeom prst="rect">
            <a:avLst/>
          </a:prstGeom>
          <a:solidFill>
            <a:srgbClr val="1E2A3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794760"/>
            <a:ext cx="658368" cy="658368"/>
          </a:xfrm>
          <a:prstGeom prst="ellipse">
            <a:avLst/>
          </a:prstGeom>
          <a:solidFill>
            <a:srgbClr val="EC4899">
              <a:alpha val="2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794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88720" y="3657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40416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dashboards showing revenue trends, top products, and customer behavior.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566160"/>
            <a:ext cx="4160520" cy="1170432"/>
          </a:xfrm>
          <a:prstGeom prst="rect">
            <a:avLst/>
          </a:prstGeom>
          <a:solidFill>
            <a:srgbClr val="1E2A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794760"/>
            <a:ext cx="658368" cy="658368"/>
          </a:xfrm>
          <a:prstGeom prst="ellipse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794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623560" y="3657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Version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23560" y="40416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a web application using Spring Boot + React for browser access.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412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841248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Herbert Schildt, "Java: The Complete Reference", 12th Edition, McGraw-Hill, 2021.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16736"/>
            <a:ext cx="8595360" cy="457200"/>
          </a:xfrm>
          <a:prstGeom prst="rect">
            <a:avLst/>
          </a:prstGeom>
          <a:solidFill>
            <a:srgbClr val="141C2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5331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353312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Kathy Sierra &amp; Bert Bates, "Head First Java", 3rd Edition, O'Reilly Media, 2022.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8595360" cy="45720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653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1865376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Corporation, "Java SE Documentation &amp; JDBC API Guide", docs.oracle.com/javase.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40864"/>
            <a:ext cx="8595360" cy="457200"/>
          </a:xfrm>
          <a:prstGeom prst="rect">
            <a:avLst/>
          </a:prstGeom>
          <a:solidFill>
            <a:srgbClr val="141C29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377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2377440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Official Documentation, "MySQL 8.0 Reference Manual", dev.mysql.com/doc.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8595360" cy="45720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8950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2889504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Deitel &amp; Harvey Deitel, "Java How to Program", 11th Edition, Pearson, 2018.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64992"/>
            <a:ext cx="8595360" cy="457200"/>
          </a:xfrm>
          <a:prstGeom prst="rect">
            <a:avLst/>
          </a:prstGeom>
          <a:solidFill>
            <a:srgbClr val="141C29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4015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3401568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GeeksforGeeks, "Java Swing Tutorial" &amp; "JDBC Tutorial", www.geeksforgeeks.org.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877056"/>
            <a:ext cx="8595360" cy="45720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9136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3913632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TutorialsPoint, "Advanced Java &amp; Swing Component Guide", www.tutorialspoint.com.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solidFill>
            <a:srgbClr val="141C2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42569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" y="4425696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Community, various discussions on Java Swing, JDBC, and MySQL integration.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System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93467" y="1234440"/>
            <a:ext cx="4114800" cy="4114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12072" y="2656572"/>
            <a:ext cx="2743200" cy="27432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315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System — Advanced Java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64748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1055</Words>
  <Application>Microsoft Office PowerPoint</Application>
  <PresentationFormat>On-screen Show (16:9)</PresentationFormat>
  <Paragraphs>246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Billing System - Advanced Java Project</dc:title>
  <dc:subject>PptxGenJS Presentation</dc:subject>
  <dc:creator>PptxGenJS</dc:creator>
  <cp:lastModifiedBy>Microsoft account</cp:lastModifiedBy>
  <cp:revision>2</cp:revision>
  <dcterms:created xsi:type="dcterms:W3CDTF">2026-05-08T18:58:30Z</dcterms:created>
  <dcterms:modified xsi:type="dcterms:W3CDTF">2026-05-08T19:10:14Z</dcterms:modified>
</cp:coreProperties>
</file>